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e612a812-f61a-55ab-3425-0018cc0bdf9a}">
          <p14:sldIdLst>
            <p14:sldId id="256"/>
          </p14:sldIdLst>
        </p14:section>
        <p14:section name="Diseño" id="{26533e28-57f0-1d1c-94f2-69b15cb39ab0}">
          <p14:sldIdLst>
            <p14:sldId id="257"/>
            <p14:sldId id="258"/>
            <p14:sldId id="259"/>
          </p14:sldIdLst>
        </p14:section>
        <p14:section name="Comportamiento" id="{c8f46d86-7439-02c5-f4bf-9872f6cccd7f}">
          <p14:sldIdLst>
            <p14:sldId id="260"/>
            <p14:sldId id="261"/>
          </p14:sldIdLst>
        </p14:section>
        <p14:section name="Demostración" id="{551f30eb-38d2-7e4c-4856-7e84ab021532}">
          <p14:sldIdLst>
            <p14:sldId id="262"/>
          </p14:sldIdLst>
        </p14:section>
        <p14:section name="Cierre" id="{65a547e5-cd4d-e06d-4b93-caf9f1f126c3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Nicolas. 20 s. Qué problema resuelve y qué verán: arquitectura, planificación, memoria y demo en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Nicolas. 60 s. Caso: asesor de compras de un comparador de precios. El agente deja registro en la base: alertas y listas.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Nicolas. 60 s. Recorrer de izquierda a derecha: API → AgentService → grafo LangGraph. A la derecha: Gemini, checkpointer (memoria de corto plazo), 11 herramientas y memoria de largo plazo con embeddings.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Ariel. 60 s. Nodos: recall → plan → act ⇄ tools → reflect. El ciclo rojo es la replanificación (máx. 2). give_up cierra las llamadas pendientes si se pasa de 10 pasos.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Ariel. 60 s. Las reglas de diagnóstico son código determinista (se prueban sin LLM). Frenos anti-bucle: máx. 2 replanificaciones y cada motivo replanifica una sola vez.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Nicolas. 60 s. Corto plazo = checkpointer del hilo (sobrevive a reinicios; Postgres con varias réplicas). Largo plazo = tabla agent_memories con embeddings. El caso clave: «Recomiéndame un celular» no comparte palabras con «Prefiero Samsung»: por eso existe la memoria núcleo.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Presentan ambos. 3 min. Comando: python scripts/demo_agente.py --live --embeddings gemini (si la cuota de Gemini se agotó, usar el modo sin --live: misma traza, modelo guionado). Mostrar en cada historia: plan inicial, llamadas a herramientas, línea [reflect] con el diagnóstico y el estado final de la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Presenta: Ariel. 45 s. Cifras reales del repositorio. La demo con Gemini completó las historias 1 a 3; la cuota gratuita se agotó en la 4 y el agente lo informó sin caerse. Pruebas en vivo con Gemini y contra Postgres real: pasaron.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Presentan ambos. 60 s. Cada fila: decisión y razón medida. Preparar la ronda de preguntas (10 min): por qué LangGraph y no el orquestador propio, por qué reglas deterministas, qué falló con los embeddings locales, qué no se probó (pooler real de Supabase).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Agente de ahorro de TodoBarato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Consulta, escritura y razonamiento, con memoria y replanificación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1148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ISY0101 Ingeniería de Soluciones con IA · Evaluación Parcial 2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Nicolas Estefania · Ariel Espinoza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Un asesor de compras que deja registro</a:t>
            </a:r>
            <a:endParaRPr lang="en-US" sz="3000" dirty="0"/>
          </a:p>
        </p:txBody>
      </p:sp>
      <p:sp>
        <p:nvSpPr>
          <p:cNvPr id="4" name="Tarjeta 1"/>
          <p:cNvSpPr/>
          <p:nvPr/>
        </p:nvSpPr>
        <p:spPr>
          <a:xfrm>
            <a:off x="457200" y="1188720"/>
            <a:ext cx="40233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Número 1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3258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«Notebook para la universidad, hasta $400.000»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05740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Busca, compara tiendas, juzga el precio y guarda la lista</a:t>
            </a:r>
            <a:endParaRPr lang="en-US" sz="1400" dirty="0"/>
          </a:p>
        </p:txBody>
      </p:sp>
      <p:sp>
        <p:nvSpPr>
          <p:cNvPr id="9" name="Tarjeta 2"/>
          <p:cNvSpPr/>
          <p:nvPr/>
        </p:nvSpPr>
        <p:spPr>
          <a:xfrm>
            <a:off x="4663440" y="1188720"/>
            <a:ext cx="40233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Número 2"/>
          <p:cNvSpPr/>
          <p:nvPr/>
        </p:nvSpPr>
        <p:spPr>
          <a:xfrm>
            <a:off x="4846320" y="1371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463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440680" y="13258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«Notebook gamer, hasta $300.000, avísame»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892040" y="205740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en ese precio: cambia de estrategia y deja una alerta</a:t>
            </a:r>
            <a:endParaRPr lang="en-US" sz="1400" dirty="0"/>
          </a:p>
        </p:txBody>
      </p:sp>
      <p:sp>
        <p:nvSpPr>
          <p:cNvPr id="14" name="Tarjeta 3"/>
          <p:cNvSpPr/>
          <p:nvPr/>
        </p:nvSpPr>
        <p:spPr>
          <a:xfrm>
            <a:off x="457200" y="2971800"/>
            <a:ext cx="40233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Número 3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234440" y="31089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«Revisa mis alertas»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85800" y="384048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cada alerta con los precios de hoy</a:t>
            </a:r>
            <a:endParaRPr lang="en-US" sz="1400" dirty="0"/>
          </a:p>
        </p:txBody>
      </p:sp>
      <p:sp>
        <p:nvSpPr>
          <p:cNvPr id="19" name="Tarjeta 4"/>
          <p:cNvSpPr/>
          <p:nvPr/>
        </p:nvSpPr>
        <p:spPr>
          <a:xfrm>
            <a:off x="4663440" y="2971800"/>
            <a:ext cx="40233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Número 4"/>
          <p:cNvSpPr/>
          <p:nvPr/>
        </p:nvSpPr>
        <p:spPr>
          <a:xfrm>
            <a:off x="4846320" y="31546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84632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440680" y="31089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«Prefiero Samsung, no quiero Huawei»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4892040" y="384048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recuerda en conversaciones futuras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Orquestación de componentes</a:t>
            </a:r>
            <a:endParaRPr lang="en-US" sz="3000" dirty="0"/>
          </a:p>
        </p:txBody>
      </p:sp>
      <p:pic>
        <p:nvPicPr>
          <p:cNvPr id="4" name="Image 0" descr="Diagrama de componentes: cliente, FastAPI, AgentService, grafo LangGraph, Gemini, SqliteSaver, herramientas, memoria de largo plazo, catálogo y tablas del agen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8229600" cy="3703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Flujo del grafo y replanificación</a:t>
            </a:r>
            <a:endParaRPr lang="en-US" sz="3000" dirty="0"/>
          </a:p>
        </p:txBody>
      </p:sp>
      <p:pic>
        <p:nvPicPr>
          <p:cNvPr id="4" name="Image 0" descr="Flujo del grafo: recall, plan, act, tools, reflect, con ciclo de replanificación, remember y give_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051560"/>
            <a:ext cx="7132320" cy="364845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Cinco diagnósticos cambian el plan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194560"/>
                <a:gridCol w="31089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Observación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Diagnóstico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Adaptación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Búsqueda con 0 resultados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sin_resultados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Términos más generales, sin filtro de precio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Todo cuesta más que el presupuesto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sobre_presupuesto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Gama inferior o alerta; informa cuánto falta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Todas las ofertas sin stock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sin_stock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Descarta y elige otra tienda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Tendencia dice «esperar»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precio_alto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 compra hoy; alerta al promedio histórico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Una herramienta falló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error_herramienta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Corrige parámetros y reintenta una vez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Memoria de corto y largo plazo</a:t>
            </a:r>
            <a:endParaRPr lang="en-US" sz="3000" dirty="0"/>
          </a:p>
        </p:txBody>
      </p:sp>
      <p:sp>
        <p:nvSpPr>
          <p:cNvPr id="4" name="Columna Corto plazo"/>
          <p:cNvSpPr/>
          <p:nvPr/>
        </p:nvSpPr>
        <p:spPr>
          <a:xfrm>
            <a:off x="457200" y="1097280"/>
            <a:ext cx="4023360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85800" y="11887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Corto plazo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600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dentro de una tarea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965960"/>
            <a:ext cx="3611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Historial del hilo en el checkpointer de LangGraph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SQLite en local, Postgres con varias réplicas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Ventana de 24 mensajes + resumen de lo recortado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Cada hilo atado a su usuario</a:t>
            </a:r>
            <a:endParaRPr lang="en-US" sz="1400" dirty="0"/>
          </a:p>
        </p:txBody>
      </p:sp>
      <p:sp>
        <p:nvSpPr>
          <p:cNvPr id="8" name="Columna Largo plazo"/>
          <p:cNvSpPr/>
          <p:nvPr/>
        </p:nvSpPr>
        <p:spPr>
          <a:xfrm>
            <a:off x="4663440" y="1097280"/>
            <a:ext cx="4023360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4892040" y="11887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Largo plazo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4892040" y="1600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 entre conversaciones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892040" y="1965960"/>
            <a:ext cx="3611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Preferencias, hechos y episodios con embedding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Memoria núcleo: lo importante se carga siempre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Búsqueda semántica; sin duplicados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Aislada por usuario</a:t>
            </a:r>
            <a:endParaRPr lang="en-US" sz="1400" dirty="0"/>
          </a:p>
        </p:txBody>
      </p:sp>
      <p:sp>
        <p:nvSpPr>
          <p:cNvPr id="12" name="Fórmula de recuperación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0080" y="39319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puntaje = 0,75 · similitud + 0,15 · importancia/5 + 0,10 · recencia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Demo en vivo: cinco historias</a:t>
            </a:r>
            <a:endParaRPr lang="en-US" sz="3000" dirty="0"/>
          </a:p>
        </p:txBody>
      </p:sp>
      <p:sp>
        <p:nvSpPr>
          <p:cNvPr id="4" name="Historia 1"/>
          <p:cNvSpPr/>
          <p:nvPr/>
        </p:nvSpPr>
        <p:spPr>
          <a:xfrm>
            <a:off x="457200" y="1188720"/>
            <a:ext cx="1508760" cy="214884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Número historia 1"/>
          <p:cNvSpPr/>
          <p:nvPr/>
        </p:nvSpPr>
        <p:spPr>
          <a:xfrm>
            <a:off x="960120" y="132588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6012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9202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simple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46888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→ razonamiento → escritura</a:t>
            </a:r>
            <a:endParaRPr lang="en-US" sz="1200" dirty="0"/>
          </a:p>
        </p:txBody>
      </p:sp>
      <p:sp>
        <p:nvSpPr>
          <p:cNvPr id="9" name="Historia 2"/>
          <p:cNvSpPr/>
          <p:nvPr/>
        </p:nvSpPr>
        <p:spPr>
          <a:xfrm>
            <a:off x="2103120" y="1188720"/>
            <a:ext cx="1508760" cy="214884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Número historia 2"/>
          <p:cNvSpPr/>
          <p:nvPr/>
        </p:nvSpPr>
        <p:spPr>
          <a:xfrm>
            <a:off x="2606040" y="132588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60604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2194560" y="19202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resultados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194560" y="246888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replan ×2 y alerta de precio</a:t>
            </a:r>
            <a:endParaRPr lang="en-US" sz="1200" dirty="0"/>
          </a:p>
        </p:txBody>
      </p:sp>
      <p:sp>
        <p:nvSpPr>
          <p:cNvPr id="14" name="Historia 3"/>
          <p:cNvSpPr/>
          <p:nvPr/>
        </p:nvSpPr>
        <p:spPr>
          <a:xfrm>
            <a:off x="3749040" y="1188720"/>
            <a:ext cx="1508760" cy="214884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Número historia 3"/>
          <p:cNvSpPr/>
          <p:nvPr/>
        </p:nvSpPr>
        <p:spPr>
          <a:xfrm>
            <a:off x="4251960" y="132588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25196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3840480" y="19202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inflado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3840480" y="246888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historial dice «esperar»</a:t>
            </a:r>
            <a:endParaRPr lang="en-US" sz="1200" dirty="0"/>
          </a:p>
        </p:txBody>
      </p:sp>
      <p:sp>
        <p:nvSpPr>
          <p:cNvPr id="19" name="Historia 4"/>
          <p:cNvSpPr/>
          <p:nvPr/>
        </p:nvSpPr>
        <p:spPr>
          <a:xfrm>
            <a:off x="5394960" y="1188720"/>
            <a:ext cx="1508760" cy="214884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Número historia 4"/>
          <p:cNvSpPr/>
          <p:nvPr/>
        </p:nvSpPr>
        <p:spPr>
          <a:xfrm>
            <a:off x="5897880" y="132588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89788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0" y="19202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 día, otro hilo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0" y="246888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recuerda «Prefiero Samsung»</a:t>
            </a:r>
            <a:endParaRPr lang="en-US" sz="1200" dirty="0"/>
          </a:p>
        </p:txBody>
      </p:sp>
      <p:sp>
        <p:nvSpPr>
          <p:cNvPr id="24" name="Historia 5"/>
          <p:cNvSpPr/>
          <p:nvPr/>
        </p:nvSpPr>
        <p:spPr>
          <a:xfrm>
            <a:off x="7040880" y="1188720"/>
            <a:ext cx="1508760" cy="214884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Número historia 5"/>
          <p:cNvSpPr/>
          <p:nvPr/>
        </p:nvSpPr>
        <p:spPr>
          <a:xfrm>
            <a:off x="7543800" y="132588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754380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7132320" y="19202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Bajó el precio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7132320" y="246888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cumple la alerta</a:t>
            </a:r>
            <a:endParaRPr lang="en-US" sz="1200" dirty="0"/>
          </a:p>
        </p:txBody>
      </p:sp>
      <p:sp>
        <p:nvSpPr>
          <p:cNvPr id="29" name="Comando de la demo"/>
          <p:cNvSpPr/>
          <p:nvPr/>
        </p:nvSpPr>
        <p:spPr>
          <a:xfrm>
            <a:off x="457200" y="3657600"/>
            <a:ext cx="822960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40080" y="3657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.venv/bin/python scripts/demo_agente.py --live --embeddings gemini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Evidencia</a:t>
            </a:r>
            <a:endParaRPr lang="en-US" sz="3000" dirty="0"/>
          </a:p>
        </p:txBody>
      </p:sp>
      <p:sp>
        <p:nvSpPr>
          <p:cNvPr id="4" name="Cifra pruebas del agente"/>
          <p:cNvSpPr/>
          <p:nvPr/>
        </p:nvSpPr>
        <p:spPr>
          <a:xfrm>
            <a:off x="457200" y="1188720"/>
            <a:ext cx="1920240" cy="201168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457200" y="13258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22860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del agente</a:t>
            </a:r>
            <a:endParaRPr lang="en-US" sz="1400" dirty="0"/>
          </a:p>
        </p:txBody>
      </p:sp>
      <p:sp>
        <p:nvSpPr>
          <p:cNvPr id="7" name="Cifra pruebas en todo el repositorio"/>
          <p:cNvSpPr/>
          <p:nvPr/>
        </p:nvSpPr>
        <p:spPr>
          <a:xfrm>
            <a:off x="2542032" y="1188720"/>
            <a:ext cx="1920240" cy="201168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2542032" y="13258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873</a:t>
            </a:r>
            <a:endParaRPr lang="en-US" sz="5400" dirty="0"/>
          </a:p>
        </p:txBody>
      </p:sp>
      <p:sp>
        <p:nvSpPr>
          <p:cNvPr id="9" name="Text 6"/>
          <p:cNvSpPr txBox="1"/>
          <p:nvPr/>
        </p:nvSpPr>
        <p:spPr>
          <a:xfrm>
            <a:off x="2679192" y="22860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en todo el repositorio</a:t>
            </a:r>
            <a:endParaRPr lang="en-US" sz="1400" dirty="0"/>
          </a:p>
        </p:txBody>
      </p:sp>
      <p:sp>
        <p:nvSpPr>
          <p:cNvPr id="10" name="Cifra herramientas: consulta, razonamiento y escritura"/>
          <p:cNvSpPr/>
          <p:nvPr/>
        </p:nvSpPr>
        <p:spPr>
          <a:xfrm>
            <a:off x="4626864" y="1188720"/>
            <a:ext cx="1920240" cy="201168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626864" y="13258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5400" dirty="0"/>
          </a:p>
        </p:txBody>
      </p:sp>
      <p:sp>
        <p:nvSpPr>
          <p:cNvPr id="12" name="Text 9"/>
          <p:cNvSpPr txBox="1"/>
          <p:nvPr/>
        </p:nvSpPr>
        <p:spPr>
          <a:xfrm>
            <a:off x="4764024" y="22860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herramientas: consulta, razonamiento y escritura</a:t>
            </a:r>
            <a:endParaRPr lang="en-US" sz="1400" dirty="0"/>
          </a:p>
        </p:txBody>
      </p:sp>
      <p:sp>
        <p:nvSpPr>
          <p:cNvPr id="13" name="Cifra diagnósticos que replanifican"/>
          <p:cNvSpPr/>
          <p:nvPr/>
        </p:nvSpPr>
        <p:spPr>
          <a:xfrm>
            <a:off x="6711696" y="1188720"/>
            <a:ext cx="1920240" cy="201168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711696" y="13258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400" dirty="0"/>
          </a:p>
        </p:txBody>
      </p:sp>
      <p:sp>
        <p:nvSpPr>
          <p:cNvPr id="15" name="Text 12"/>
          <p:cNvSpPr txBox="1"/>
          <p:nvPr/>
        </p:nvSpPr>
        <p:spPr>
          <a:xfrm>
            <a:off x="6848856" y="22860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diagnósticos que replanifican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Gemini real: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historias 1 a 3 completas, con replan por sin_resultados, sobre_presupuesto y precio_alto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Checkpointer: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dos conexiones distintas comparten un mismo hilo en Postgres 16 real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Por qué estas decisiones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514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3017520" y="251460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tiene ciclo (reflect → plan), estado y checkpointer; el orquestador previo no guardaba estado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81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en código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3017520" y="3081528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diagnóstico, tendencia y presupuesto se prueban sin red: 88 pruebas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64845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núcleo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3017520" y="3648456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embeddings locales «Recomiéndame un celular» no recuperaba «Prefiero Samsung»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21538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Checkpointer Postgres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017520" y="4215384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varias réplicas comparten los hilos (probado con Postgres 16 real)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odoBarato Agente">
  <a:themeElements>
    <a:clrScheme name="TodoBarato Agente">
      <a:dk1>
        <a:srgbClr val="1B1B1B"/>
      </a:dk1>
      <a:lt1>
        <a:srgbClr val="FFFFFF"/>
      </a:lt1>
      <a:dk2>
        <a:srgbClr val="14342A"/>
      </a:dk2>
      <a:lt2>
        <a:srgbClr val="EEF5EA"/>
      </a:lt2>
      <a:accent1>
        <a:srgbClr val="2C5F2D"/>
      </a:accent1>
      <a:accent2>
        <a:srgbClr val="97BC62"/>
      </a:accent2>
      <a:accent3>
        <a:srgbClr val="C2410C"/>
      </a:accent3>
      <a:accent4>
        <a:srgbClr val="0E7490"/>
      </a:accent4>
      <a:accent5>
        <a:srgbClr val="6D28D9"/>
      </a:accent5>
      <a:accent6>
        <a:srgbClr val="B91C1C"/>
      </a:accent6>
      <a:hlink>
        <a:srgbClr val="0E7490"/>
      </a:hlink>
      <a:folHlink>
        <a:srgbClr val="6D28D9"/>
      </a:folHlink>
    </a:clrScheme>
    <a:fontScheme name="TodoBarato Agent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Agente de ahorro de TodoBarato</dc:title>
  <dc:subject>PptxGenJS Presentation</dc:subject>
  <dc:creator>Nicolas Estefania, Ariel Espinoza</dc:creator>
  <cp:lastModifiedBy>Nicolas Estefania, Ariel Espinoza</cp:lastModifiedBy>
  <cp:revision>1</cp:revision>
  <dcterms:created xsi:type="dcterms:W3CDTF">2026-10-19T00:41:34Z</dcterms:created>
  <dcterms:modified xsi:type="dcterms:W3CDTF">2026-10-19T00:41:34Z</dcterms:modified>
</cp:coreProperties>
</file>