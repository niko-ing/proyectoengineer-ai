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0271e6a5-40b5-d17f-4d7e-01959f08208d}">
          <p14:sldIdLst>
            <p14:sldId id="256"/>
          </p14:sldIdLst>
        </p14:section>
        <p14:section name="Diseño" id="{fbdab523-81a6-b2c6-a7cc-cc160cf1b5ba}">
          <p14:sldIdLst>
            <p14:sldId id="257"/>
            <p14:sldId id="258"/>
            <p14:sldId id="259"/>
          </p14:sldIdLst>
        </p14:section>
        <p14:section name="Comportamiento" id="{db71084d-71ce-f581-22ce-205cb457a9bb}">
          <p14:sldIdLst>
            <p14:sldId id="260"/>
            <p14:sldId id="261"/>
          </p14:sldIdLst>
        </p14:section>
        <p14:section name="Demostración" id="{1825dc27-7127-1e8f-6557-291eec8934b0}">
          <p14:sldIdLst>
            <p14:sldId id="262"/>
            <p14:sldId id="263"/>
          </p14:sldIdLst>
        </p14:section>
        <p14:section name="Cierre" id="{6b64499f-6382-9f80-6cc4-cde7f8f91ce0}">
          <p14:sldIdLst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Nicolas. 20 s. Qué problema resuelve y qué verán: arquitectura, planificación, memoria y demo en vivo.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Nicolas. 60 s. Caso: asesor de compras de un comparador de precios. El agente deja registro en la base: alertas y listas.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Nicolas. 60 s. Recorrer de izquierda a derecha: API → AgentService → grafo LangGraph. A la derecha: Gemini, checkpointer (memoria de corto plazo), 11 herramientas y memoria de largo plazo con embeddings.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Ariel. 60 s. Nodos: recall → plan → act ⇄ tools → reflect. El ciclo rojo es la replanificación (máx. 2). give_up cierra las llamadas pendientes si se pasa de 10 pasos.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Ariel. 60 s. Las reglas de diagnóstico son código determinista (se prueban sin LLM). Frenos anti-bucle: máx. 2 replanificaciones y cada motivo replanifica una sola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Nicolas. 60 s. Corto plazo = checkpointer del hilo (sobrevive a reinicios; Postgres con varias réplicas). Largo plazo = tabla agent_memories con embeddings. El caso clave: «Recomiéndame un celular» no comparte palabras con «Prefiero Samsung»: por eso existe la memoria núcleo.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Presentan ambos. 3 min. Comando: python scripts/demo_agente.py --live --embeddings gemini (si la cuota de Gemini se agotó, usar el modo sin --live: misma traza, modelo guionado). Mostrar en cada historia: plan inicial, llamadas a herramientas, línea [reflect] con el diagnóstico y el estado final de la base.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Ariel. 45 s. Capturas de la pantalla /agente en modo demo. Izquierda: historia 2, el panel «Cómo pensó» muestra el plan, la búsqueda sin resultados y el cambio de estrategia. Derecha: tras simular la baja de precio, la alerta se cumple y queda registrada en «Guardado». Para mostrarla en vivo: backend en el puerto 8000, frontend con pnpm dev y abrir http://localhost:3000/agente.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Presenta: Ariel. 45 s. Cifras reales del repositorio. La demo con Gemini completó las historias 1 a 3; la cuota gratuita se agotó en la 4 y el agente lo informó sin caerse. Pruebas en vivo con Gemini y contra Postgres real: pasaron.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Presentan ambos. 60 s. Cada fila: decisión y razón medida. Preparar la ronda de preguntas (10 min): por qué LangGraph y no el orquestador propio, por qué reglas deterministas, qué falló con los embeddings locales, qué no se probó (pooler real de Supabase).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OSCUR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Agente de ahorro de TodoBarato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74320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Consulta, escritura y razonamiento, con memoria y replanificación</a:t>
            </a:r>
            <a:endParaRPr lang="en-US" sz="2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41148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ISY0101 Ingeniería de Soluciones con IA · Evaluación Parcial 2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4348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Nicolas Estefania · Ariel Espinoza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Un asesor de compras que deja registro</a:t>
            </a:r>
            <a:endParaRPr lang="en-US" sz="3000" dirty="0"/>
          </a:p>
        </p:txBody>
      </p:sp>
      <p:sp>
        <p:nvSpPr>
          <p:cNvPr id="4" name="Tarjeta 1"/>
          <p:cNvSpPr/>
          <p:nvPr/>
        </p:nvSpPr>
        <p:spPr>
          <a:xfrm>
            <a:off x="457200" y="1188720"/>
            <a:ext cx="40233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Número 1"/>
          <p:cNvSpPr/>
          <p:nvPr/>
        </p:nvSpPr>
        <p:spPr>
          <a:xfrm>
            <a:off x="64008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4008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234440" y="13258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«Notebook para la universidad, hasta $400.000»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205740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Busca, compara tiendas, juzga el precio y guarda la lista</a:t>
            </a:r>
            <a:endParaRPr lang="en-US" sz="1400" dirty="0"/>
          </a:p>
        </p:txBody>
      </p:sp>
      <p:sp>
        <p:nvSpPr>
          <p:cNvPr id="9" name="Tarjeta 2"/>
          <p:cNvSpPr/>
          <p:nvPr/>
        </p:nvSpPr>
        <p:spPr>
          <a:xfrm>
            <a:off x="4663440" y="1188720"/>
            <a:ext cx="40233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Número 2"/>
          <p:cNvSpPr/>
          <p:nvPr/>
        </p:nvSpPr>
        <p:spPr>
          <a:xfrm>
            <a:off x="4846320" y="137160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46320" y="13716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5440680" y="132588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«Notebook gamer, hasta $300.000, avísame»</a:t>
            </a:r>
            <a:endParaRPr lang="en-US" sz="1500" dirty="0"/>
          </a:p>
        </p:txBody>
      </p:sp>
      <p:sp>
        <p:nvSpPr>
          <p:cNvPr id="13" name="Text 10"/>
          <p:cNvSpPr txBox="1"/>
          <p:nvPr/>
        </p:nvSpPr>
        <p:spPr>
          <a:xfrm>
            <a:off x="4892040" y="205740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hay en ese precio: cambia de estrategia y deja una alerta</a:t>
            </a:r>
            <a:endParaRPr lang="en-US" sz="1400" dirty="0"/>
          </a:p>
        </p:txBody>
      </p:sp>
      <p:sp>
        <p:nvSpPr>
          <p:cNvPr id="14" name="Tarjeta 3"/>
          <p:cNvSpPr/>
          <p:nvPr/>
        </p:nvSpPr>
        <p:spPr>
          <a:xfrm>
            <a:off x="457200" y="2971800"/>
            <a:ext cx="40233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Número 3"/>
          <p:cNvSpPr/>
          <p:nvPr/>
        </p:nvSpPr>
        <p:spPr>
          <a:xfrm>
            <a:off x="640080" y="31546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64008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1234440" y="31089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«Revisa mis alertas»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685800" y="384048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 cada alerta con los precios de hoy</a:t>
            </a:r>
            <a:endParaRPr lang="en-US" sz="1400" dirty="0"/>
          </a:p>
        </p:txBody>
      </p:sp>
      <p:sp>
        <p:nvSpPr>
          <p:cNvPr id="19" name="Tarjeta 4"/>
          <p:cNvSpPr/>
          <p:nvPr/>
        </p:nvSpPr>
        <p:spPr>
          <a:xfrm>
            <a:off x="4663440" y="2971800"/>
            <a:ext cx="402336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Número 4"/>
          <p:cNvSpPr/>
          <p:nvPr/>
        </p:nvSpPr>
        <p:spPr>
          <a:xfrm>
            <a:off x="4846320" y="315468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4846320" y="31546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40680" y="3108960"/>
            <a:ext cx="31089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«Prefiero Samsung, no quiero Huawei»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4892040" y="3840480"/>
            <a:ext cx="3611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recuerda en conversaciones futuras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Orquestación de componentes</a:t>
            </a:r>
            <a:endParaRPr lang="en-US" sz="3000" dirty="0"/>
          </a:p>
        </p:txBody>
      </p:sp>
      <p:pic>
        <p:nvPicPr>
          <p:cNvPr id="4" name="Image 0" descr="Diagrama de componentes: cliente, FastAPI, AgentService, grafo LangGraph, Gemini, SqliteSaver, herramientas, memoria de largo plazo, catálogo y tablas del agen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8229600" cy="3703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Flujo del grafo y replanificación</a:t>
            </a:r>
            <a:endParaRPr lang="en-US" sz="3000" dirty="0"/>
          </a:p>
        </p:txBody>
      </p:sp>
      <p:pic>
        <p:nvPicPr>
          <p:cNvPr id="4" name="Image 0" descr="Flujo del grafo: recall, plan, act, tools, reflect, con ciclo de replanificación, remember y give_u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05840" y="1051560"/>
            <a:ext cx="7132320" cy="364845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Cinco diagnósticos cambian el plan</a:t>
            </a:r>
            <a:endParaRPr lang="en-US" sz="30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43000"/>
          <a:ext cx="822960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194560"/>
                <a:gridCol w="310896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Observación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Diagnóstico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bg1"/>
                          </a:solidFill>
                        </a:rPr>
                        <a:t>Adaptación</a:t>
                      </a:r>
                      <a:endParaRPr lang="en-US" sz="14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Búsqueda con 0 resultados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sin_resultados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Términos más generales, sin filtro de precio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Todo cuesta más que el presupuesto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sobre_presupuesto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Gama inferior o alerta; informa cuánto falta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Todas las ofertas sin stock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sin_stock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Descarta y elige otra tienda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Tendencia dice «esperar»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precio_alto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No compra hoy; alerta al promedio histórico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Una herramienta falló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3"/>
                          </a:solidFill>
                        </a:rPr>
                        <a:t>error_herramienta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</a:rPr>
                        <a:t>Corrige parámetros y reintenta una vez</a:t>
                      </a:r>
                      <a:endParaRPr lang="en-US" sz="1300" dirty="0"/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9D6C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Memoria de corto y largo plazo</a:t>
            </a:r>
            <a:endParaRPr lang="en-US" sz="3000" dirty="0"/>
          </a:p>
        </p:txBody>
      </p:sp>
      <p:sp>
        <p:nvSpPr>
          <p:cNvPr id="4" name="Columna Corto plazo"/>
          <p:cNvSpPr/>
          <p:nvPr/>
        </p:nvSpPr>
        <p:spPr>
          <a:xfrm>
            <a:off x="457200" y="1097280"/>
            <a:ext cx="402336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8580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Corto plazo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1600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dentro de una tarea</a:t>
            </a: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685800" y="1965960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Historial del hilo en el checkpointer de LangGraph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SQLite en local, Postgres con varias réplicas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Ventana de 24 mensajes + resumen de lo recortado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Cada hilo atado a su usuario</a:t>
            </a:r>
            <a:endParaRPr lang="en-US" sz="1400" dirty="0"/>
          </a:p>
        </p:txBody>
      </p:sp>
      <p:sp>
        <p:nvSpPr>
          <p:cNvPr id="8" name="Columna Largo plazo"/>
          <p:cNvSpPr/>
          <p:nvPr/>
        </p:nvSpPr>
        <p:spPr>
          <a:xfrm>
            <a:off x="4663440" y="1097280"/>
            <a:ext cx="4023360" cy="260604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6"/>
          <p:cNvSpPr txBox="1"/>
          <p:nvPr/>
        </p:nvSpPr>
        <p:spPr>
          <a:xfrm>
            <a:off x="4892040" y="118872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Largo plazo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892040" y="160020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Conocimiento entre conversaciones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4892040" y="1965960"/>
            <a:ext cx="36118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Preferencias, hechos y episodios con embedding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Memoria núcleo: lo importante se carga siempre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Búsqueda semántica; sin duplicados</a:t>
            </a:r>
            <a:endParaRPr lang="en-US" sz="14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Aislada por usuario</a:t>
            </a:r>
            <a:endParaRPr lang="en-US" sz="1400" dirty="0"/>
          </a:p>
        </p:txBody>
      </p:sp>
      <p:sp>
        <p:nvSpPr>
          <p:cNvPr id="12" name="Fórmula de recuperación"/>
          <p:cNvSpPr/>
          <p:nvPr/>
        </p:nvSpPr>
        <p:spPr>
          <a:xfrm>
            <a:off x="457200" y="3931920"/>
            <a:ext cx="8229600" cy="685800"/>
          </a:xfrm>
          <a:prstGeom prst="roundRect">
            <a:avLst>
              <a:gd name="adj" fmla="val 13333"/>
            </a:avLst>
          </a:prstGeom>
          <a:solidFill>
            <a:schemeClr val="tx2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40080" y="3931920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puntaje = 0,75 · similitud + 0,15 · importancia/5 + 0,10 · recencia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Demo en vivo: cinco historias</a:t>
            </a:r>
            <a:endParaRPr lang="en-US" sz="3000" dirty="0"/>
          </a:p>
        </p:txBody>
      </p:sp>
      <p:sp>
        <p:nvSpPr>
          <p:cNvPr id="4" name="Historia 1"/>
          <p:cNvSpPr/>
          <p:nvPr/>
        </p:nvSpPr>
        <p:spPr>
          <a:xfrm>
            <a:off x="457200" y="1188720"/>
            <a:ext cx="1508760" cy="214884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Número historia 1"/>
          <p:cNvSpPr/>
          <p:nvPr/>
        </p:nvSpPr>
        <p:spPr>
          <a:xfrm>
            <a:off x="960120" y="13258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96012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9202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Compra simple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468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 → razonamiento → escritura</a:t>
            </a:r>
            <a:endParaRPr lang="en-US" sz="1200" dirty="0"/>
          </a:p>
        </p:txBody>
      </p:sp>
      <p:sp>
        <p:nvSpPr>
          <p:cNvPr id="9" name="Historia 2"/>
          <p:cNvSpPr/>
          <p:nvPr/>
        </p:nvSpPr>
        <p:spPr>
          <a:xfrm>
            <a:off x="2103120" y="1188720"/>
            <a:ext cx="1508760" cy="214884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Número historia 2"/>
          <p:cNvSpPr/>
          <p:nvPr/>
        </p:nvSpPr>
        <p:spPr>
          <a:xfrm>
            <a:off x="2606040" y="13258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260604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9"/>
          <p:cNvSpPr txBox="1"/>
          <p:nvPr/>
        </p:nvSpPr>
        <p:spPr>
          <a:xfrm>
            <a:off x="2194560" y="19202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resultados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2194560" y="2468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replan ×2 y alerta de precio</a:t>
            </a:r>
            <a:endParaRPr lang="en-US" sz="1200" dirty="0"/>
          </a:p>
        </p:txBody>
      </p:sp>
      <p:sp>
        <p:nvSpPr>
          <p:cNvPr id="14" name="Historia 3"/>
          <p:cNvSpPr/>
          <p:nvPr/>
        </p:nvSpPr>
        <p:spPr>
          <a:xfrm>
            <a:off x="3749040" y="1188720"/>
            <a:ext cx="1508760" cy="214884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Número historia 3"/>
          <p:cNvSpPr/>
          <p:nvPr/>
        </p:nvSpPr>
        <p:spPr>
          <a:xfrm>
            <a:off x="4251960" y="13258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25196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3840480" y="19202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inflado</a:t>
            </a:r>
            <a:endParaRPr lang="en-US" sz="1400" dirty="0"/>
          </a:p>
        </p:txBody>
      </p:sp>
      <p:sp>
        <p:nvSpPr>
          <p:cNvPr id="18" name="Text 15"/>
          <p:cNvSpPr txBox="1"/>
          <p:nvPr/>
        </p:nvSpPr>
        <p:spPr>
          <a:xfrm>
            <a:off x="3840480" y="2468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historial dice «esperar»</a:t>
            </a:r>
            <a:endParaRPr lang="en-US" sz="1200" dirty="0"/>
          </a:p>
        </p:txBody>
      </p:sp>
      <p:sp>
        <p:nvSpPr>
          <p:cNvPr id="19" name="Historia 4"/>
          <p:cNvSpPr/>
          <p:nvPr/>
        </p:nvSpPr>
        <p:spPr>
          <a:xfrm>
            <a:off x="5394960" y="1188720"/>
            <a:ext cx="1508760" cy="214884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0" name="Número historia 4"/>
          <p:cNvSpPr/>
          <p:nvPr/>
        </p:nvSpPr>
        <p:spPr>
          <a:xfrm>
            <a:off x="5897880" y="13258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589788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0" y="19202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Otro día, otro hilo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0" y="2468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recuerda «Prefiero Samsung»</a:t>
            </a:r>
            <a:endParaRPr lang="en-US" sz="1200" dirty="0"/>
          </a:p>
        </p:txBody>
      </p:sp>
      <p:sp>
        <p:nvSpPr>
          <p:cNvPr id="24" name="Historia 5"/>
          <p:cNvSpPr/>
          <p:nvPr/>
        </p:nvSpPr>
        <p:spPr>
          <a:xfrm>
            <a:off x="7040880" y="1188720"/>
            <a:ext cx="1508760" cy="2148840"/>
          </a:xfrm>
          <a:prstGeom prst="roundRect">
            <a:avLst>
              <a:gd name="adj" fmla="val 6061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5" name="Número historia 5"/>
          <p:cNvSpPr/>
          <p:nvPr/>
        </p:nvSpPr>
        <p:spPr>
          <a:xfrm>
            <a:off x="7543800" y="1325880"/>
            <a:ext cx="502920" cy="502920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7543800" y="13258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7132320" y="1920240"/>
            <a:ext cx="1325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Bajó el precio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7132320" y="2468880"/>
            <a:ext cx="13258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cumple la alerta</a:t>
            </a:r>
            <a:endParaRPr lang="en-US" sz="1200" dirty="0"/>
          </a:p>
        </p:txBody>
      </p:sp>
      <p:sp>
        <p:nvSpPr>
          <p:cNvPr id="29" name="Comando de la demo"/>
          <p:cNvSpPr/>
          <p:nvPr/>
        </p:nvSpPr>
        <p:spPr>
          <a:xfrm>
            <a:off x="457200" y="3657600"/>
            <a:ext cx="8229600" cy="822960"/>
          </a:xfrm>
          <a:prstGeom prst="roundRect">
            <a:avLst>
              <a:gd name="adj" fmla="val 11111"/>
            </a:avLst>
          </a:prstGeom>
          <a:solidFill>
            <a:schemeClr val="tx2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40080" y="365760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.venv/bin/python scripts/demo_agente.py --live --embeddings gemini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pantalla: se ve cómo piensa</a:t>
            </a:r>
            <a:endParaRPr lang="en-US" sz="3000" dirty="0"/>
          </a:p>
        </p:txBody>
      </p:sp>
      <p:sp>
        <p:nvSpPr>
          <p:cNvPr id="4" name="Marco captura 1"/>
          <p:cNvSpPr/>
          <p:nvPr/>
        </p:nvSpPr>
        <p:spPr>
          <a:xfrm>
            <a:off x="457200" y="1097280"/>
            <a:ext cx="402336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5" name="Image 0" descr="Plan, herramientas y replanes en viv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88720"/>
            <a:ext cx="3840480" cy="2400300"/>
          </a:xfrm>
          <a:prstGeom prst="rect">
            <a:avLst/>
          </a:prstGeom>
        </p:spPr>
      </p:pic>
      <p:sp>
        <p:nvSpPr>
          <p:cNvPr id="6" name="Text 2"/>
          <p:cNvSpPr txBox="1"/>
          <p:nvPr/>
        </p:nvSpPr>
        <p:spPr>
          <a:xfrm>
            <a:off x="457200" y="39319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Plan, herramientas y replanes en vivo</a:t>
            </a:r>
            <a:endParaRPr lang="en-US" sz="1400" dirty="0"/>
          </a:p>
        </p:txBody>
      </p:sp>
      <p:sp>
        <p:nvSpPr>
          <p:cNvPr id="7" name="Marco captura 2"/>
          <p:cNvSpPr/>
          <p:nvPr/>
        </p:nvSpPr>
        <p:spPr>
          <a:xfrm>
            <a:off x="4663440" y="1097280"/>
            <a:ext cx="4023360" cy="2697480"/>
          </a:xfrm>
          <a:prstGeom prst="roundRect">
            <a:avLst>
              <a:gd name="adj" fmla="val 3390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pic>
        <p:nvPicPr>
          <p:cNvPr id="8" name="Image 1" descr="La alerta se cumple y queda guardad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0" y="1188720"/>
            <a:ext cx="3840480" cy="2400300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4663440" y="3931920"/>
            <a:ext cx="4023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alerta se cumple y queda guardada</a:t>
            </a:r>
            <a:endParaRPr lang="en-US" sz="1400" dirty="0"/>
          </a:p>
        </p:txBody>
      </p:sp>
      <p:sp>
        <p:nvSpPr>
          <p:cNvPr id="10" name="Text 5"/>
          <p:cNvSpPr txBox="1"/>
          <p:nvPr/>
        </p:nvSpPr>
        <p:spPr>
          <a:xfrm>
            <a:off x="457200" y="43891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Modo demo en http://localhost:3000/agente: sin login y sin gastar cuota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Evidencia</a:t>
            </a:r>
            <a:endParaRPr lang="en-US" sz="3000" dirty="0"/>
          </a:p>
        </p:txBody>
      </p:sp>
      <p:sp>
        <p:nvSpPr>
          <p:cNvPr id="4" name="Cifra pruebas del agente"/>
          <p:cNvSpPr/>
          <p:nvPr/>
        </p:nvSpPr>
        <p:spPr>
          <a:xfrm>
            <a:off x="457200" y="1188720"/>
            <a:ext cx="1920240" cy="20116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457200" y="13258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</a:t>
            </a:r>
            <a:endParaRPr lang="en-US" sz="5400" dirty="0"/>
          </a:p>
        </p:txBody>
      </p:sp>
      <p:sp>
        <p:nvSpPr>
          <p:cNvPr id="6" name="Text 3"/>
          <p:cNvSpPr txBox="1"/>
          <p:nvPr/>
        </p:nvSpPr>
        <p:spPr>
          <a:xfrm>
            <a:off x="594360" y="22860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del agente</a:t>
            </a:r>
            <a:endParaRPr lang="en-US" sz="1400" dirty="0"/>
          </a:p>
        </p:txBody>
      </p:sp>
      <p:sp>
        <p:nvSpPr>
          <p:cNvPr id="7" name="Cifra pruebas en todo el repositorio"/>
          <p:cNvSpPr/>
          <p:nvPr/>
        </p:nvSpPr>
        <p:spPr>
          <a:xfrm>
            <a:off x="2542032" y="1188720"/>
            <a:ext cx="1920240" cy="20116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5"/>
          <p:cNvSpPr txBox="1"/>
          <p:nvPr/>
        </p:nvSpPr>
        <p:spPr>
          <a:xfrm>
            <a:off x="2542032" y="13258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873</a:t>
            </a:r>
            <a:endParaRPr lang="en-US" sz="5400" dirty="0"/>
          </a:p>
        </p:txBody>
      </p:sp>
      <p:sp>
        <p:nvSpPr>
          <p:cNvPr id="9" name="Text 6"/>
          <p:cNvSpPr txBox="1"/>
          <p:nvPr/>
        </p:nvSpPr>
        <p:spPr>
          <a:xfrm>
            <a:off x="2679192" y="22860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pruebas en todo el repositorio</a:t>
            </a:r>
            <a:endParaRPr lang="en-US" sz="1400" dirty="0"/>
          </a:p>
        </p:txBody>
      </p:sp>
      <p:sp>
        <p:nvSpPr>
          <p:cNvPr id="10" name="Cifra herramientas: consulta, razonamiento y escritura"/>
          <p:cNvSpPr/>
          <p:nvPr/>
        </p:nvSpPr>
        <p:spPr>
          <a:xfrm>
            <a:off x="4626864" y="1188720"/>
            <a:ext cx="1920240" cy="20116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4626864" y="13258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5400" dirty="0"/>
          </a:p>
        </p:txBody>
      </p:sp>
      <p:sp>
        <p:nvSpPr>
          <p:cNvPr id="12" name="Text 9"/>
          <p:cNvSpPr txBox="1"/>
          <p:nvPr/>
        </p:nvSpPr>
        <p:spPr>
          <a:xfrm>
            <a:off x="4764024" y="22860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herramientas: consulta, razonamiento y escritura</a:t>
            </a:r>
            <a:endParaRPr lang="en-US" sz="1400" dirty="0"/>
          </a:p>
        </p:txBody>
      </p:sp>
      <p:sp>
        <p:nvSpPr>
          <p:cNvPr id="13" name="Cifra diagnósticos que replanifican"/>
          <p:cNvSpPr/>
          <p:nvPr/>
        </p:nvSpPr>
        <p:spPr>
          <a:xfrm>
            <a:off x="6711696" y="1188720"/>
            <a:ext cx="1920240" cy="201168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4" name="Text 11"/>
          <p:cNvSpPr txBox="1"/>
          <p:nvPr/>
        </p:nvSpPr>
        <p:spPr>
          <a:xfrm>
            <a:off x="6711696" y="132588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15" name="Text 12"/>
          <p:cNvSpPr txBox="1"/>
          <p:nvPr/>
        </p:nvSpPr>
        <p:spPr>
          <a:xfrm>
            <a:off x="6848856" y="2286000"/>
            <a:ext cx="1645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diagnósticos que replanifican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457200" y="35204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Gemini real: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historias 1 a 3 completas, con replan por sin_resultados, sobre_presupuesto y precio_alto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Checkpointer: 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dos conexiones distintas comparten un mismo hilo en Postgres 16 real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0060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1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</a:rPr>
              <a:t>Por qué estas decisiones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2514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3017520" y="2514600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flujo tiene ciclo (reflect → plan), estado y checkpointer; el orquestador previo no guardaba estado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308152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en código</a:t>
            </a:r>
            <a:endParaRPr lang="en-US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017520" y="3081528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diagnóstico, tendencia y presupuesto se prueban sin red: 88 pruebas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3648456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 núcleo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3017520" y="3648456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embeddings locales «Recomiéndame un celular» no recuperaba «Prefiero Samsung»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421538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Checkpointer Postgres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3017520" y="4215384"/>
            <a:ext cx="5577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varias réplicas comparten los hilos (probado con Postgres 16 real)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odoBarato Agente">
  <a:themeElements>
    <a:clrScheme name="TodoBarato Agente">
      <a:dk1>
        <a:srgbClr val="1B1B1B"/>
      </a:dk1>
      <a:lt1>
        <a:srgbClr val="FFFFFF"/>
      </a:lt1>
      <a:dk2>
        <a:srgbClr val="14342A"/>
      </a:dk2>
      <a:lt2>
        <a:srgbClr val="EEF5EA"/>
      </a:lt2>
      <a:accent1>
        <a:srgbClr val="2C5F2D"/>
      </a:accent1>
      <a:accent2>
        <a:srgbClr val="97BC62"/>
      </a:accent2>
      <a:accent3>
        <a:srgbClr val="C2410C"/>
      </a:accent3>
      <a:accent4>
        <a:srgbClr val="0E7490"/>
      </a:accent4>
      <a:accent5>
        <a:srgbClr val="6D28D9"/>
      </a:accent5>
      <a:accent6>
        <a:srgbClr val="B91C1C"/>
      </a:accent6>
      <a:hlink>
        <a:srgbClr val="0E7490"/>
      </a:hlink>
      <a:folHlink>
        <a:srgbClr val="6D28D9"/>
      </a:folHlink>
    </a:clrScheme>
    <a:fontScheme name="TodoBarato Agent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Agente de ahorro de TodoBarato</dc:title>
  <dc:subject>PptxGenJS Presentation</dc:subject>
  <dc:creator>Nicolas Estefania, Ariel Espinoza</dc:creator>
  <cp:lastModifiedBy>Nicolas Estefania, Ariel Espinoza</cp:lastModifiedBy>
  <cp:revision>1</cp:revision>
  <dcterms:created xsi:type="dcterms:W3CDTF">2026-10-19T01:12:03Z</dcterms:created>
  <dcterms:modified xsi:type="dcterms:W3CDTF">2026-10-19T01:12:03Z</dcterms:modified>
</cp:coreProperties>
</file>