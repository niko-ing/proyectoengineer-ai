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1216ebd-0070-6b56-5e65-e0fe532391e0}">
          <p14:sldIdLst>
            <p14:sldId id="256"/>
          </p14:sldIdLst>
        </p14:section>
        <p14:section name="Diseño" id="{39f60a36-2ae4-f76a-4045-c3b28e57e01a}">
          <p14:sldIdLst>
            <p14:sldId id="257"/>
            <p14:sldId id="258"/>
            <p14:sldId id="259"/>
          </p14:sldIdLst>
        </p14:section>
        <p14:section name="Comportamiento" id="{85096e05-4263-1b5b-6bea-51bf18a99fe5}">
          <p14:sldIdLst>
            <p14:sldId id="260"/>
            <p14:sldId id="261"/>
          </p14:sldIdLst>
        </p14:section>
        <p14:section name="Demostración" id="{d252b8d0-0393-4885-1035-cf045dd2d57a}">
          <p14:sldIdLst>
            <p14:sldId id="262"/>
            <p14:sldId id="263"/>
          </p14:sldIdLst>
        </p14:section>
        <p14:section name="Cierre" id="{b623fd6c-9784-4d7b-bb72-b871bb97367a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20 s. Qué problema resuelve y qué verán: arquitectura, planificación, memoria y demo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Caso: asesor de compras de un comparador de precios. El agente deja registro en la base: alertas y listas.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Recorrer de izquierda a derecha: API → AgentService → grafo LangGraph. A la derecha: Gemini, checkpointer (memoria de corto plazo), 11 herramientas y memoria de largo plazo con embeddings.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60 s. Nodos: recall → plan → act ⇄ tools → reflect. El ciclo rojo es la replanificación (máx. 2). give_up cierra las llamadas pendientes si se pasa de 10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60 s. Las reglas de diagnóstico son código determinista (se prueban sin LLM). Frenos anti-bucle: máx. 2 replanificaciones y cada motivo replanifica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Corto plazo = checkpointer del hilo (sobrevive a reinicios; Postgres con varias réplicas). Largo plazo = tabla agent_memories con embeddings. El caso clave: «Recomiéndame un celular» no comparte palabras con «Prefiero Samsung»: por eso existe la memoria núcleo.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Presentan ambos. 3 min. Comando: python scripts/demo_agente.py --live --embeddings gemini (si la cuota de Gemini se agotó, usar el modo sin --live: misma traza, modelo guionado). Mostrar en cada historia: plan inicial, llamadas a herramientas, línea [reflect] con el diagnóstico y el estado final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45 s. Capturas de la pantalla /agente en modo demo (se abre con /agente?demo=1; sin ese parámetro la pantalla usa Gemini real). Izquierda: historia 2, el panel «Cómo pensó» muestra el plan, la búsqueda sin resultados y el cambio de estrategia. Derecha: tras simular la baja de precio, la alerta se cumple y queda registrada en «Guardado». Para mostrarla en vivo: backend en el puerto 8000, frontend con pnpm dev y abrir http://localhost:3000/agente?demo=1.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45 s. Cifras reales del repositorio. La demo con Gemini completó las historias 1 a 3; la cuota gratuita se agotó en la 4 y el agente lo informó sin caerse. Pruebas en vivo con Gemini y contra Postgres real: pasaron.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Presentan ambos. 60 s. Cada fila: decisión y razón medida. Preparar la ronda de preguntas (10 min): por qué LangGraph y no el orquestador propio, por qué reglas deterministas, qué falló con los embeddings locales, qué no se probó (pooler real de Supabase).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Agente de ahorro de TodoBarato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escritura y razonamiento, con memoria y replanificación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ISY0101 Ingeniería de Soluciones con IA · Evaluación Parcial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Estefania · Ariel Espinoza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asesor de compras que deja registro</a:t>
            </a:r>
            <a:endParaRPr lang="en-US" sz="3000" dirty="0"/>
          </a:p>
        </p:txBody>
      </p:sp>
      <p:sp>
        <p:nvSpPr>
          <p:cNvPr id="4" name="Tarjeta 1"/>
          <p:cNvSpPr/>
          <p:nvPr/>
        </p:nvSpPr>
        <p:spPr>
          <a:xfrm>
            <a:off x="45720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para la universidad, hasta $400.000»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compara tiendas, juzga el precio y guarda la lista</a:t>
            </a:r>
            <a:endParaRPr lang="en-US" sz="1400" dirty="0"/>
          </a:p>
        </p:txBody>
      </p:sp>
      <p:sp>
        <p:nvSpPr>
          <p:cNvPr id="9" name="Tarjeta 2"/>
          <p:cNvSpPr/>
          <p:nvPr/>
        </p:nvSpPr>
        <p:spPr>
          <a:xfrm>
            <a:off x="466344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gamer, hasta $300.000, avísame»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en ese precio: cambia de estrategia y deja una alerta</a:t>
            </a:r>
            <a:endParaRPr lang="en-US" sz="1400" dirty="0"/>
          </a:p>
        </p:txBody>
      </p:sp>
      <p:sp>
        <p:nvSpPr>
          <p:cNvPr id="14" name="Tarjeta 3"/>
          <p:cNvSpPr/>
          <p:nvPr/>
        </p:nvSpPr>
        <p:spPr>
          <a:xfrm>
            <a:off x="45720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3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«Revisa mis alertas»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cada alerta con los precios de hoy</a:t>
            </a:r>
            <a:endParaRPr lang="en-US" sz="1400" dirty="0"/>
          </a:p>
        </p:txBody>
      </p:sp>
      <p:sp>
        <p:nvSpPr>
          <p:cNvPr id="19" name="Tarjeta 4"/>
          <p:cNvSpPr/>
          <p:nvPr/>
        </p:nvSpPr>
        <p:spPr>
          <a:xfrm>
            <a:off x="466344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4"/>
          <p:cNvSpPr/>
          <p:nvPr/>
        </p:nvSpPr>
        <p:spPr>
          <a:xfrm>
            <a:off x="484632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8463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4068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«Prefiero Samsung, no quiero Huawei»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89204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recuerda en conversaciones futuras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Orquestación de componentes</a:t>
            </a:r>
            <a:endParaRPr lang="en-US" sz="3000" dirty="0"/>
          </a:p>
        </p:txBody>
      </p:sp>
      <p:pic>
        <p:nvPicPr>
          <p:cNvPr id="4" name="Image 0" descr="Diagrama de componentes: cliente, FastAPI, AgentService, grafo LangGraph, Gemini, SqliteSaver, herramientas, memoria de largo plazo, catálogo y tablas del ag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Flujo del grafo y replanificación</a:t>
            </a:r>
            <a:endParaRPr lang="en-US" sz="3000" dirty="0"/>
          </a:p>
        </p:txBody>
      </p:sp>
      <p:pic>
        <p:nvPicPr>
          <p:cNvPr id="4" name="Image 0" descr="Flujo del grafo: recall, plan, act, tools, reflect, con ciclo de replanificación, remember y give_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051560"/>
            <a:ext cx="7132320" cy="3648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Cinco diagnósticos cambian el plan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Observación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Diagnóstico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Adaptación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Búsqueda con 0 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Términos más generales, sin filtro de precio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Todo cuesta más que el 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sobre_presupuesto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Gama inferior o alerta; informa cuánto falta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Todas las ofertas sin 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Descarta y elige otra tienda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Tendencia dice «esperar»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precio_alto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compra hoy; alerta al promedio histórico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Una herramienta falló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error_herramienta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Corrige parámetros y reintenta una vez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Memoria de corto y largo plazo</a:t>
            </a:r>
            <a:endParaRPr lang="en-US" sz="3000" dirty="0"/>
          </a:p>
        </p:txBody>
      </p:sp>
      <p:sp>
        <p:nvSpPr>
          <p:cNvPr id="4" name="Columna Corto plazo"/>
          <p:cNvSpPr/>
          <p:nvPr/>
        </p:nvSpPr>
        <p:spPr>
          <a:xfrm>
            <a:off x="45720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dentro de una tarea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Historial del hilo en el checkpointer de LangGraph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en local, Postgres con varias réplicas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Ventana de 24 mensajes + resumen de lo recortado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Cada hilo atado a su usuario</a:t>
            </a:r>
            <a:endParaRPr lang="en-US" sz="1400" dirty="0"/>
          </a:p>
        </p:txBody>
      </p:sp>
      <p:sp>
        <p:nvSpPr>
          <p:cNvPr id="8" name="Columna Largo plazo"/>
          <p:cNvSpPr/>
          <p:nvPr/>
        </p:nvSpPr>
        <p:spPr>
          <a:xfrm>
            <a:off x="466344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entre conversaciones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Preferencias, hechos y episodios con embedding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Memoria núcleo: lo importante se carga siempre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Búsqueda semántica; sin duplicados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Aislada por usuario</a:t>
            </a:r>
            <a:endParaRPr lang="en-US" sz="1400" dirty="0"/>
          </a:p>
        </p:txBody>
      </p:sp>
      <p:sp>
        <p:nvSpPr>
          <p:cNvPr id="12" name="Fórmula de recuperación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= 0,75 · similitud + 0,15 · importancia/5 + 0,10 · recencia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 en vivo: cinco historias</a:t>
            </a:r>
            <a:endParaRPr lang="en-US" sz="3000" dirty="0"/>
          </a:p>
        </p:txBody>
      </p:sp>
      <p:sp>
        <p:nvSpPr>
          <p:cNvPr id="4" name="Historia 1"/>
          <p:cNvSpPr/>
          <p:nvPr/>
        </p:nvSpPr>
        <p:spPr>
          <a:xfrm>
            <a:off x="45720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historia 1"/>
          <p:cNvSpPr/>
          <p:nvPr/>
        </p:nvSpPr>
        <p:spPr>
          <a:xfrm>
            <a:off x="96012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simple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→ razonamiento → escritura</a:t>
            </a:r>
            <a:endParaRPr lang="en-US" sz="1200" dirty="0"/>
          </a:p>
        </p:txBody>
      </p:sp>
      <p:sp>
        <p:nvSpPr>
          <p:cNvPr id="9" name="Historia 2"/>
          <p:cNvSpPr/>
          <p:nvPr/>
        </p:nvSpPr>
        <p:spPr>
          <a:xfrm>
            <a:off x="210312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historia 2"/>
          <p:cNvSpPr/>
          <p:nvPr/>
        </p:nvSpPr>
        <p:spPr>
          <a:xfrm>
            <a:off x="260604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resultados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 ×2 y alerta de precio</a:t>
            </a:r>
            <a:endParaRPr lang="en-US" sz="1200" dirty="0"/>
          </a:p>
        </p:txBody>
      </p:sp>
      <p:sp>
        <p:nvSpPr>
          <p:cNvPr id="14" name="Historia 3"/>
          <p:cNvSpPr/>
          <p:nvPr/>
        </p:nvSpPr>
        <p:spPr>
          <a:xfrm>
            <a:off x="374904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historia 3"/>
          <p:cNvSpPr/>
          <p:nvPr/>
        </p:nvSpPr>
        <p:spPr>
          <a:xfrm>
            <a:off x="425196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inflado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dice «esperar»</a:t>
            </a:r>
            <a:endParaRPr lang="en-US" sz="1200" dirty="0"/>
          </a:p>
        </p:txBody>
      </p:sp>
      <p:sp>
        <p:nvSpPr>
          <p:cNvPr id="19" name="Historia 4"/>
          <p:cNvSpPr/>
          <p:nvPr/>
        </p:nvSpPr>
        <p:spPr>
          <a:xfrm>
            <a:off x="539496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historia 4"/>
          <p:cNvSpPr/>
          <p:nvPr/>
        </p:nvSpPr>
        <p:spPr>
          <a:xfrm>
            <a:off x="589788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9788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día, otro hilo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 «Prefiero Samsung»</a:t>
            </a:r>
            <a:endParaRPr lang="en-US" sz="1200" dirty="0"/>
          </a:p>
        </p:txBody>
      </p:sp>
      <p:sp>
        <p:nvSpPr>
          <p:cNvPr id="24" name="Historia 5"/>
          <p:cNvSpPr/>
          <p:nvPr/>
        </p:nvSpPr>
        <p:spPr>
          <a:xfrm>
            <a:off x="704088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Número historia 5"/>
          <p:cNvSpPr/>
          <p:nvPr/>
        </p:nvSpPr>
        <p:spPr>
          <a:xfrm>
            <a:off x="754380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543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 el precio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cumple la alerta</a:t>
            </a:r>
            <a:endParaRPr lang="en-US" sz="1200" dirty="0"/>
          </a:p>
        </p:txBody>
      </p:sp>
      <p:sp>
        <p:nvSpPr>
          <p:cNvPr id="29" name="Comando de la demo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0080" y="3657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scripts/demo_agente.py --live --embeddings gemini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pantalla: se ve cómo piensa</a:t>
            </a:r>
            <a:endParaRPr lang="en-US" sz="3000" dirty="0"/>
          </a:p>
        </p:txBody>
      </p:sp>
      <p:sp>
        <p:nvSpPr>
          <p:cNvPr id="4" name="Marco captura 1"/>
          <p:cNvSpPr/>
          <p:nvPr/>
        </p:nvSpPr>
        <p:spPr>
          <a:xfrm>
            <a:off x="457200" y="1097280"/>
            <a:ext cx="402336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lan, herramientas y replanes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3840480" cy="24003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931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herramientas y replanes en vivo</a:t>
            </a:r>
            <a:endParaRPr lang="en-US" sz="1400" dirty="0"/>
          </a:p>
        </p:txBody>
      </p:sp>
      <p:sp>
        <p:nvSpPr>
          <p:cNvPr id="7" name="Marco captura 2"/>
          <p:cNvSpPr/>
          <p:nvPr/>
        </p:nvSpPr>
        <p:spPr>
          <a:xfrm>
            <a:off x="4663440" y="1097280"/>
            <a:ext cx="402336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La alerta se cumple y queda guarda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840480" cy="24003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63440" y="3931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alerta se cumple y queda guardada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demo en http://localhost:3000/agente?demo=1: sin login y sin gastar cuota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Evidencia</a:t>
            </a:r>
            <a:endParaRPr lang="en-US" sz="3000" dirty="0"/>
          </a:p>
        </p:txBody>
      </p:sp>
      <p:sp>
        <p:nvSpPr>
          <p:cNvPr id="4" name="Cifra pruebas del agente"/>
          <p:cNvSpPr/>
          <p:nvPr/>
        </p:nvSpPr>
        <p:spPr>
          <a:xfrm>
            <a:off x="457200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del agente</a:t>
            </a:r>
            <a:endParaRPr lang="en-US" sz="1400" dirty="0"/>
          </a:p>
        </p:txBody>
      </p:sp>
      <p:sp>
        <p:nvSpPr>
          <p:cNvPr id="7" name="Cifra pruebas en todo el repositorio"/>
          <p:cNvSpPr/>
          <p:nvPr/>
        </p:nvSpPr>
        <p:spPr>
          <a:xfrm>
            <a:off x="2542032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542032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873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todo el repositorio</a:t>
            </a:r>
            <a:endParaRPr lang="en-US" sz="1400" dirty="0"/>
          </a:p>
        </p:txBody>
      </p:sp>
      <p:sp>
        <p:nvSpPr>
          <p:cNvPr id="10" name="Cifra herramientas: consulta, razonamiento y escritura"/>
          <p:cNvSpPr/>
          <p:nvPr/>
        </p:nvSpPr>
        <p:spPr>
          <a:xfrm>
            <a:off x="4626864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26864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consulta, razonamiento y escritura</a:t>
            </a:r>
            <a:endParaRPr lang="en-US" sz="1400" dirty="0"/>
          </a:p>
        </p:txBody>
      </p:sp>
      <p:sp>
        <p:nvSpPr>
          <p:cNvPr id="13" name="Cifra diagnósticos que replanifican"/>
          <p:cNvSpPr/>
          <p:nvPr/>
        </p:nvSpPr>
        <p:spPr>
          <a:xfrm>
            <a:off x="6711696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11696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que replanifican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Gemini real: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1 a 3 completas, con replan por sin_resultados, sobre_presupuesto y precio_alto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Checkpointer: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dos conexiones distintas comparten un mismo hilo en Postgres 16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Por qué estas decisiones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3017520" y="25146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tiene ciclo (reflect → plan), estado y checkpointer; el orquestador previo no guardaba estado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81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 código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308152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tendencia y presupuesto se prueban sin red: 88 pruebas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484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núcleo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embeddings locales «Recomiéndame un celular» no recuperaba «Prefiero Samsung»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153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Postgres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21538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comparten los hilos (probado con Postgres 16 real)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doBarato Agente">
  <a:themeElements>
    <a:clrScheme name="TodoBarato Agente">
      <a:dk1>
        <a:srgbClr val="1B1B1B"/>
      </a:dk1>
      <a:lt1>
        <a:srgbClr val="FFFFFF"/>
      </a:lt1>
      <a:dk2>
        <a:srgbClr val="14342A"/>
      </a:dk2>
      <a:lt2>
        <a:srgbClr val="EEF5EA"/>
      </a:lt2>
      <a:accent1>
        <a:srgbClr val="2C5F2D"/>
      </a:accent1>
      <a:accent2>
        <a:srgbClr val="97BC62"/>
      </a:accent2>
      <a:accent3>
        <a:srgbClr val="C2410C"/>
      </a:accent3>
      <a:accent4>
        <a:srgbClr val="0E7490"/>
      </a:accent4>
      <a:accent5>
        <a:srgbClr val="6D28D9"/>
      </a:accent5>
      <a:accent6>
        <a:srgbClr val="B91C1C"/>
      </a:accent6>
      <a:hlink>
        <a:srgbClr val="0E7490"/>
      </a:hlink>
      <a:folHlink>
        <a:srgbClr val="6D28D9"/>
      </a:folHlink>
    </a:clrScheme>
    <a:fontScheme name="TodoBarato Ag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de ahorro de TodoBarato</dc:title>
  <dc:subject>PptxGenJS Presentation</dc:subject>
  <dc:creator>Nicolas Estefania, Ariel Espinoza</dc:creator>
  <cp:lastModifiedBy>Nicolas Estefania, Ariel Espinoza</cp:lastModifiedBy>
  <cp:revision>1</cp:revision>
  <dcterms:created xsi:type="dcterms:W3CDTF">2026-10-19T02:40:53Z</dcterms:created>
  <dcterms:modified xsi:type="dcterms:W3CDTF">2026-10-19T02:40:53Z</dcterms:modified>
</cp:coreProperties>
</file>